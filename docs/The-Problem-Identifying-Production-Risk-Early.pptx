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embeddedFontLst>
    <p:embeddedFont>
      <p:font typeface="Sora ExtraLight"/>
      <p:regular r:id="rId201314"/>
    </p:embeddedFont>
    <p:embeddedFont>
      <p:font typeface="Sora Light"/>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operational tension: production creates many observations, but inspection time is limited. The project focuses on finding the high-risk cases early enough to support focused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not automatic machine control. It is a decision-support workflow that turns production observations into prioritized, explainable inspection 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separation. Training and evaluation establish model behavior. The user-facing lane applies the prepared workflow to observations, prioritizes cases, explains the result, and delivers it through Streamlit.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dataset as a consistent project foundation, then connect each technology choice to the workflow: modeling, evaluation, explanation, visualization, dashboarding, and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the claim. The project does not claim universal accuracy gains. Its difference is that it evaluates and presents predictions in the context of limited inspection capacity, explanation, baselines, and interactive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loop, not on automation. The advisor helps the engineer decide where to look first and understand why. The final action remains focused investigation and quality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A3A5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8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AFBFD"/>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2.png"/><Relationship Id="rId4" Type="http://schemas.openxmlformats.org/officeDocument/2006/relationships/image" Target="../media/image-6-4.jpe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6582" y="1258987"/>
            <a:ext cx="11328117"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A9D7FF"/>
                </a:solidFill>
                <a:latin typeface="Sora ExtraLight" pitchFamily="34" charset="0"/>
                <a:ea typeface="Sora ExtraLight" pitchFamily="34" charset="-122"/>
                <a:cs typeface="Sora ExtraLight" pitchFamily="34" charset="-120"/>
              </a:rPr>
              <a:t>PRODUCTION QUALITY · THE PROBLEM</a:t>
            </a:r>
            <a:endParaRPr lang="en-US" sz="1050" dirty="0"/>
          </a:p>
        </p:txBody>
      </p:sp>
      <p:sp>
        <p:nvSpPr>
          <p:cNvPr id="3" name="Text 1"/>
          <p:cNvSpPr/>
          <p:nvPr/>
        </p:nvSpPr>
        <p:spPr>
          <a:xfrm>
            <a:off x="736582" y="1518642"/>
            <a:ext cx="10718532" cy="2819400"/>
          </a:xfrm>
          <a:prstGeom prst="rect">
            <a:avLst/>
          </a:prstGeom>
          <a:noFill/>
          <a:ln/>
        </p:spPr>
        <p:txBody>
          <a:bodyPr wrap="square" lIns="0" tIns="0" rIns="0" bIns="0" rtlCol="0" anchor="t">
            <a:normAutofit/>
          </a:bodyPr>
          <a:lstStyle/>
          <a:p>
            <a:pPr algn="l" indent="0" marL="0">
              <a:lnSpc>
                <a:spcPct val="83000"/>
              </a:lnSpc>
              <a:buNone/>
            </a:pPr>
            <a:r>
              <a:rPr lang="en-US" sz="7400" dirty="0">
                <a:solidFill>
                  <a:srgbClr val="FFFFFF"/>
                </a:solidFill>
                <a:latin typeface="Sora ExtraLight" pitchFamily="34" charset="0"/>
                <a:ea typeface="Sora ExtraLight" pitchFamily="34" charset="-122"/>
                <a:cs typeface="Sora ExtraLight" pitchFamily="34" charset="-120"/>
              </a:rPr>
              <a:t>The Problem:</a:t>
            </a:r>
            <a:endParaRPr lang="en-US" sz="7400" dirty="0"/>
          </a:p>
          <a:p>
            <a:pPr algn="l" indent="0" marL="0">
              <a:lnSpc>
                <a:spcPct val="83000"/>
              </a:lnSpc>
              <a:buNone/>
            </a:pPr>
            <a:r>
              <a:rPr lang="en-US" sz="7400" dirty="0">
                <a:solidFill>
                  <a:srgbClr val="FFFFFF"/>
                </a:solidFill>
                <a:latin typeface="Sora ExtraLight" pitchFamily="34" charset="0"/>
                <a:ea typeface="Sora ExtraLight" pitchFamily="34" charset="-122"/>
                <a:cs typeface="Sora ExtraLight" pitchFamily="34" charset="-120"/>
              </a:rPr>
              <a:t>Identifying Production Risk Early</a:t>
            </a:r>
            <a:endParaRPr lang="en-US" sz="7400" dirty="0"/>
          </a:p>
        </p:txBody>
      </p:sp>
      <p:sp>
        <p:nvSpPr>
          <p:cNvPr id="4" name="Text 2"/>
          <p:cNvSpPr/>
          <p:nvPr/>
        </p:nvSpPr>
        <p:spPr>
          <a:xfrm>
            <a:off x="736582" y="4601170"/>
            <a:ext cx="10718532" cy="568920"/>
          </a:xfrm>
          <a:prstGeom prst="rect">
            <a:avLst/>
          </a:prstGeom>
          <a:noFill/>
          <a:ln/>
        </p:spPr>
        <p:txBody>
          <a:bodyPr wrap="square" lIns="0" tIns="0" rIns="0" bIns="0" rtlCol="0" anchor="t">
            <a:normAutofit/>
          </a:bodyPr>
          <a:lstStyle/>
          <a:p>
            <a:pPr algn="l" indent="0" marL="0">
              <a:lnSpc>
                <a:spcPct val="117000"/>
              </a:lnSpc>
              <a:buNone/>
            </a:pPr>
            <a:r>
              <a:rPr lang="en-US" sz="1600" dirty="0">
                <a:solidFill>
                  <a:srgbClr val="FFFFFF"/>
                </a:solidFill>
                <a:latin typeface="Sora ExtraLight" pitchFamily="34" charset="0"/>
                <a:ea typeface="Sora ExtraLight" pitchFamily="34" charset="-122"/>
                <a:cs typeface="Sora ExtraLight" pitchFamily="34" charset="-120"/>
              </a:rPr>
              <a:t>Large volumes of production observations meet limited inspection capacity. The difficult question is deciding which cases deserve attention before failure becomes visible.</a:t>
            </a:r>
            <a:endParaRPr lang="en-US" sz="1600" dirty="0"/>
          </a:p>
        </p:txBody>
      </p:sp>
      <p:sp>
        <p:nvSpPr>
          <p:cNvPr id="5" name="Shape 3"/>
          <p:cNvSpPr/>
          <p:nvPr/>
        </p:nvSpPr>
        <p:spPr>
          <a:xfrm>
            <a:off x="736582" y="5328841"/>
            <a:ext cx="3326424" cy="270173"/>
          </a:xfrm>
          <a:prstGeom prst="roundRect">
            <a:avLst>
              <a:gd name="adj" fmla="val 4231"/>
            </a:avLst>
          </a:prstGeom>
          <a:noFill/>
          <a:ln w="6350">
            <a:solidFill>
              <a:srgbClr val="7EC1FF"/>
            </a:solidFill>
            <a:prstDash val="solid"/>
          </a:ln>
        </p:spPr>
      </p:sp>
      <p:sp>
        <p:nvSpPr>
          <p:cNvPr id="6" name="Text 4"/>
          <p:cNvSpPr/>
          <p:nvPr/>
        </p:nvSpPr>
        <p:spPr>
          <a:xfrm>
            <a:off x="843239" y="5382121"/>
            <a:ext cx="3722694" cy="163612"/>
          </a:xfrm>
          <a:prstGeom prst="rect">
            <a:avLst/>
          </a:prstGeom>
          <a:noFill/>
          <a:ln/>
        </p:spPr>
        <p:txBody>
          <a:bodyPr wrap="none" lIns="0" tIns="0" rIns="0" bIns="0" rtlCol="0" anchor="t"/>
          <a:lstStyle/>
          <a:p>
            <a:pPr algn="l" indent="0" marL="0">
              <a:lnSpc>
                <a:spcPct val="96000"/>
              </a:lnSpc>
              <a:buNone/>
            </a:pPr>
            <a:r>
              <a:rPr lang="en-US" sz="1100" dirty="0">
                <a:solidFill>
                  <a:srgbClr val="7EC1FF"/>
                </a:solidFill>
                <a:latin typeface="Sora ExtraLight" pitchFamily="34" charset="0"/>
                <a:ea typeface="Sora ExtraLight" pitchFamily="34" charset="-122"/>
                <a:cs typeface="Sora ExtraLight" pitchFamily="34" charset="-120"/>
              </a:rPr>
              <a:t>PRODUCTION LINE QUALITY RISK ADVISOR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498267" cy="6858000"/>
          </a:xfrm>
          <a:prstGeom prst="rect">
            <a:avLst/>
          </a:prstGeom>
          <a:solidFill>
            <a:srgbClr val="0A3A5C"/>
          </a:solidFill>
          <a:ln/>
        </p:spPr>
      </p:sp>
      <p:sp>
        <p:nvSpPr>
          <p:cNvPr id="3" name="Text 1"/>
          <p:cNvSpPr/>
          <p:nvPr/>
        </p:nvSpPr>
        <p:spPr>
          <a:xfrm>
            <a:off x="431789" y="931962"/>
            <a:ext cx="4066478"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A9D7FF"/>
                </a:solidFill>
                <a:latin typeface="Sora ExtraLight" pitchFamily="34" charset="0"/>
                <a:ea typeface="Sora ExtraLight" pitchFamily="34" charset="-122"/>
                <a:cs typeface="Sora ExtraLight" pitchFamily="34" charset="-120"/>
              </a:rPr>
              <a:t>OUR SOLUTION</a:t>
            </a:r>
            <a:endParaRPr lang="en-US" sz="1050" dirty="0"/>
          </a:p>
        </p:txBody>
      </p:sp>
      <p:sp>
        <p:nvSpPr>
          <p:cNvPr id="4" name="Text 2"/>
          <p:cNvSpPr/>
          <p:nvPr/>
        </p:nvSpPr>
        <p:spPr>
          <a:xfrm>
            <a:off x="431789" y="1191617"/>
            <a:ext cx="3634689" cy="3810000"/>
          </a:xfrm>
          <a:prstGeom prst="rect">
            <a:avLst/>
          </a:prstGeom>
          <a:noFill/>
          <a:ln/>
        </p:spPr>
        <p:txBody>
          <a:bodyPr wrap="square" lIns="0" tIns="0" rIns="0" bIns="0" rtlCol="0" anchor="t">
            <a:normAutofit/>
          </a:bodyPr>
          <a:lstStyle/>
          <a:p>
            <a:pPr algn="l" indent="0" marL="0">
              <a:lnSpc>
                <a:spcPct val="83000"/>
              </a:lnSpc>
              <a:buNone/>
            </a:pPr>
            <a:r>
              <a:rPr lang="en-US" sz="5000" dirty="0">
                <a:solidFill>
                  <a:srgbClr val="FFFFFF"/>
                </a:solidFill>
                <a:latin typeface="Sora ExtraLight" pitchFamily="34" charset="0"/>
                <a:ea typeface="Sora ExtraLight" pitchFamily="34" charset="-122"/>
                <a:cs typeface="Sora ExtraLight" pitchFamily="34" charset="-120"/>
              </a:rPr>
              <a:t>Turn production data into a ranked inspection queue.</a:t>
            </a:r>
            <a:endParaRPr lang="en-US" sz="5000" dirty="0"/>
          </a:p>
        </p:txBody>
      </p:sp>
      <p:sp>
        <p:nvSpPr>
          <p:cNvPr id="5" name="Text 3"/>
          <p:cNvSpPr/>
          <p:nvPr/>
        </p:nvSpPr>
        <p:spPr>
          <a:xfrm>
            <a:off x="431789" y="5179417"/>
            <a:ext cx="3634689"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FFFFFF"/>
                </a:solidFill>
                <a:latin typeface="Sora ExtraLight" pitchFamily="34" charset="0"/>
                <a:ea typeface="Sora ExtraLight" pitchFamily="34" charset="-122"/>
                <a:cs typeface="Sora ExtraLight" pitchFamily="34" charset="-120"/>
              </a:rPr>
              <a:t>Production Line Quality Risk Advisor combines machine-learning risk assessment with decision support.</a:t>
            </a:r>
            <a:endParaRPr lang="en-US" sz="1400" dirty="0"/>
          </a:p>
        </p:txBody>
      </p:sp>
      <p:sp>
        <p:nvSpPr>
          <p:cNvPr id="6" name="Text 4"/>
          <p:cNvSpPr/>
          <p:nvPr/>
        </p:nvSpPr>
        <p:spPr>
          <a:xfrm>
            <a:off x="5412545" y="1964333"/>
            <a:ext cx="6321961" cy="893961"/>
          </a:xfrm>
          <a:prstGeom prst="rect">
            <a:avLst/>
          </a:prstGeom>
          <a:noFill/>
          <a:ln/>
        </p:spPr>
        <p:txBody>
          <a:bodyPr wrap="square" lIns="0" tIns="0" rIns="0" bIns="0" rtlCol="0" anchor="t">
            <a:normAutofit/>
          </a:bodyPr>
          <a:lstStyle/>
          <a:p>
            <a:pPr algn="l" indent="0" marL="0">
              <a:lnSpc>
                <a:spcPct val="92000"/>
              </a:lnSpc>
              <a:buNone/>
            </a:pPr>
            <a:r>
              <a:rPr lang="en-US" sz="3200" dirty="0">
                <a:solidFill>
                  <a:srgbClr val="0A3A5C"/>
                </a:solidFill>
                <a:latin typeface="Sora Light" pitchFamily="34" charset="0"/>
                <a:ea typeface="Sora Light" pitchFamily="34" charset="-122"/>
                <a:cs typeface="Sora Light" pitchFamily="34" charset="-120"/>
              </a:rPr>
              <a:t>From raw observations to explainable candidates</a:t>
            </a:r>
            <a:endParaRPr lang="en-US" sz="3200" dirty="0"/>
          </a:p>
        </p:txBody>
      </p:sp>
      <p:sp>
        <p:nvSpPr>
          <p:cNvPr id="7" name="Text 5"/>
          <p:cNvSpPr/>
          <p:nvPr/>
        </p:nvSpPr>
        <p:spPr>
          <a:xfrm>
            <a:off x="5412545" y="3036094"/>
            <a:ext cx="1351822" cy="237430"/>
          </a:xfrm>
          <a:prstGeom prst="rect">
            <a:avLst/>
          </a:prstGeom>
          <a:noFill/>
          <a:ln/>
        </p:spPr>
        <p:txBody>
          <a:bodyPr wrap="none" lIns="0" tIns="0" rIns="0" bIns="0" rtlCol="0" anchor="t"/>
          <a:lstStyle/>
          <a:p>
            <a:pPr algn="l" indent="0" marL="0">
              <a:lnSpc>
                <a:spcPct val="92000"/>
              </a:lnSpc>
              <a:buNone/>
            </a:pPr>
            <a:r>
              <a:rPr lang="en-US" sz="1700" dirty="0">
                <a:solidFill>
                  <a:srgbClr val="0A3A5C"/>
                </a:solidFill>
                <a:latin typeface="Sora Light" pitchFamily="34" charset="0"/>
                <a:ea typeface="Sora Light" pitchFamily="34" charset="-122"/>
                <a:cs typeface="Sora Light" pitchFamily="34" charset="-120"/>
              </a:rPr>
              <a:t>Assess</a:t>
            </a:r>
            <a:endParaRPr lang="en-US" sz="1700" dirty="0"/>
          </a:p>
        </p:txBody>
      </p:sp>
      <p:sp>
        <p:nvSpPr>
          <p:cNvPr id="8" name="Text 6"/>
          <p:cNvSpPr/>
          <p:nvPr/>
        </p:nvSpPr>
        <p:spPr>
          <a:xfrm>
            <a:off x="5412545" y="3400524"/>
            <a:ext cx="1351822" cy="1493044"/>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Estimate machine-failure risk from production variables.</a:t>
            </a:r>
            <a:endParaRPr lang="en-US" sz="1400" dirty="0"/>
          </a:p>
        </p:txBody>
      </p:sp>
      <p:sp>
        <p:nvSpPr>
          <p:cNvPr id="9" name="Text 7"/>
          <p:cNvSpPr/>
          <p:nvPr/>
        </p:nvSpPr>
        <p:spPr>
          <a:xfrm>
            <a:off x="7069159" y="3036094"/>
            <a:ext cx="1351921" cy="237430"/>
          </a:xfrm>
          <a:prstGeom prst="rect">
            <a:avLst/>
          </a:prstGeom>
          <a:noFill/>
          <a:ln/>
        </p:spPr>
        <p:txBody>
          <a:bodyPr wrap="none" lIns="0" tIns="0" rIns="0" bIns="0" rtlCol="0" anchor="t"/>
          <a:lstStyle/>
          <a:p>
            <a:pPr algn="l" indent="0" marL="0">
              <a:lnSpc>
                <a:spcPct val="92000"/>
              </a:lnSpc>
              <a:buNone/>
            </a:pPr>
            <a:r>
              <a:rPr lang="en-US" sz="1700" dirty="0">
                <a:solidFill>
                  <a:srgbClr val="0A3A5C"/>
                </a:solidFill>
                <a:latin typeface="Sora Light" pitchFamily="34" charset="0"/>
                <a:ea typeface="Sora Light" pitchFamily="34" charset="-122"/>
                <a:cs typeface="Sora Light" pitchFamily="34" charset="-120"/>
              </a:rPr>
              <a:t>Prioritize</a:t>
            </a:r>
            <a:endParaRPr lang="en-US" sz="1700" dirty="0"/>
          </a:p>
        </p:txBody>
      </p:sp>
      <p:sp>
        <p:nvSpPr>
          <p:cNvPr id="10" name="Text 8"/>
          <p:cNvSpPr/>
          <p:nvPr/>
        </p:nvSpPr>
        <p:spPr>
          <a:xfrm>
            <a:off x="7069159" y="3400524"/>
            <a:ext cx="1351921" cy="1493044"/>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Rank observations around available inspection capacity K.</a:t>
            </a:r>
            <a:endParaRPr lang="en-US" sz="1400" dirty="0"/>
          </a:p>
        </p:txBody>
      </p:sp>
      <p:sp>
        <p:nvSpPr>
          <p:cNvPr id="11" name="Text 9"/>
          <p:cNvSpPr/>
          <p:nvPr/>
        </p:nvSpPr>
        <p:spPr>
          <a:xfrm>
            <a:off x="8725872" y="3036094"/>
            <a:ext cx="1351921" cy="237430"/>
          </a:xfrm>
          <a:prstGeom prst="rect">
            <a:avLst/>
          </a:prstGeom>
          <a:noFill/>
          <a:ln/>
        </p:spPr>
        <p:txBody>
          <a:bodyPr wrap="none" lIns="0" tIns="0" rIns="0" bIns="0" rtlCol="0" anchor="t"/>
          <a:lstStyle/>
          <a:p>
            <a:pPr algn="l" indent="0" marL="0">
              <a:lnSpc>
                <a:spcPct val="92000"/>
              </a:lnSpc>
              <a:buNone/>
            </a:pPr>
            <a:r>
              <a:rPr lang="en-US" sz="1700" dirty="0">
                <a:solidFill>
                  <a:srgbClr val="0A3A5C"/>
                </a:solidFill>
                <a:latin typeface="Sora Light" pitchFamily="34" charset="0"/>
                <a:ea typeface="Sora Light" pitchFamily="34" charset="-122"/>
                <a:cs typeface="Sora Light" pitchFamily="34" charset="-120"/>
              </a:rPr>
              <a:t>Explain</a:t>
            </a:r>
            <a:endParaRPr lang="en-US" sz="1700" dirty="0"/>
          </a:p>
        </p:txBody>
      </p:sp>
      <p:sp>
        <p:nvSpPr>
          <p:cNvPr id="12" name="Text 10"/>
          <p:cNvSpPr/>
          <p:nvPr/>
        </p:nvSpPr>
        <p:spPr>
          <a:xfrm>
            <a:off x="8725872" y="3400524"/>
            <a:ext cx="1351921" cy="995363"/>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Show the factors behind each risk assessment.</a:t>
            </a:r>
            <a:endParaRPr lang="en-US" sz="1400" dirty="0"/>
          </a:p>
        </p:txBody>
      </p:sp>
      <p:sp>
        <p:nvSpPr>
          <p:cNvPr id="13" name="Text 11"/>
          <p:cNvSpPr/>
          <p:nvPr/>
        </p:nvSpPr>
        <p:spPr>
          <a:xfrm>
            <a:off x="10382586" y="3036094"/>
            <a:ext cx="1351921" cy="237430"/>
          </a:xfrm>
          <a:prstGeom prst="rect">
            <a:avLst/>
          </a:prstGeom>
          <a:noFill/>
          <a:ln/>
        </p:spPr>
        <p:txBody>
          <a:bodyPr wrap="none" lIns="0" tIns="0" rIns="0" bIns="0" rtlCol="0" anchor="t"/>
          <a:lstStyle/>
          <a:p>
            <a:pPr algn="l" indent="0" marL="0">
              <a:lnSpc>
                <a:spcPct val="92000"/>
              </a:lnSpc>
              <a:buNone/>
            </a:pPr>
            <a:r>
              <a:rPr lang="en-US" sz="1700" dirty="0">
                <a:solidFill>
                  <a:srgbClr val="0A3A5C"/>
                </a:solidFill>
                <a:latin typeface="Sora Light" pitchFamily="34" charset="0"/>
                <a:ea typeface="Sora Light" pitchFamily="34" charset="-122"/>
                <a:cs typeface="Sora Light" pitchFamily="34" charset="-120"/>
              </a:rPr>
              <a:t>Support</a:t>
            </a:r>
            <a:endParaRPr lang="en-US" sz="1700" dirty="0"/>
          </a:p>
        </p:txBody>
      </p:sp>
      <p:sp>
        <p:nvSpPr>
          <p:cNvPr id="14" name="Text 12"/>
          <p:cNvSpPr/>
          <p:nvPr/>
        </p:nvSpPr>
        <p:spPr>
          <a:xfrm>
            <a:off x="10382586" y="3400524"/>
            <a:ext cx="1351921" cy="995363"/>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Give engineers a focused set of cases to investigate.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189" y="457200"/>
            <a:ext cx="11734506"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006ACC"/>
                </a:solidFill>
                <a:latin typeface="Sora ExtraLight" pitchFamily="34" charset="0"/>
                <a:ea typeface="Sora ExtraLight" pitchFamily="34" charset="-122"/>
                <a:cs typeface="Sora ExtraLight" pitchFamily="34" charset="-120"/>
              </a:rPr>
              <a:t>SYSTEM ARCHITECTURE &amp; WORKFLOW</a:t>
            </a:r>
            <a:endParaRPr lang="en-US" sz="1050" dirty="0"/>
          </a:p>
        </p:txBody>
      </p:sp>
      <p:sp>
        <p:nvSpPr>
          <p:cNvPr id="3" name="Text 1"/>
          <p:cNvSpPr/>
          <p:nvPr/>
        </p:nvSpPr>
        <p:spPr>
          <a:xfrm>
            <a:off x="457189" y="716855"/>
            <a:ext cx="11277318" cy="279400"/>
          </a:xfrm>
          <a:prstGeom prst="rect">
            <a:avLst/>
          </a:prstGeom>
          <a:noFill/>
          <a:ln/>
        </p:spPr>
        <p:txBody>
          <a:bodyPr wrap="none" lIns="0" tIns="0" rIns="0" bIns="0" rtlCol="0" anchor="t"/>
          <a:lstStyle/>
          <a:p>
            <a:pPr algn="l" indent="0" marL="0">
              <a:lnSpc>
                <a:spcPct val="92000"/>
              </a:lnSpc>
              <a:buNone/>
            </a:pPr>
            <a:r>
              <a:rPr lang="en-US" sz="2000" dirty="0">
                <a:solidFill>
                  <a:srgbClr val="0A3A5C"/>
                </a:solidFill>
                <a:latin typeface="Sora Light" pitchFamily="34" charset="0"/>
                <a:ea typeface="Sora Light" pitchFamily="34" charset="-122"/>
                <a:cs typeface="Sora Light" pitchFamily="34" charset="-120"/>
              </a:rPr>
              <a:t>Two lanes connect model development to the engineer’s view</a:t>
            </a:r>
            <a:endParaRPr lang="en-US" sz="2000" dirty="0"/>
          </a:p>
        </p:txBody>
      </p:sp>
      <p:sp>
        <p:nvSpPr>
          <p:cNvPr id="4" name="Shape 2"/>
          <p:cNvSpPr/>
          <p:nvPr/>
        </p:nvSpPr>
        <p:spPr>
          <a:xfrm>
            <a:off x="457189" y="1123255"/>
            <a:ext cx="5486263" cy="4903093"/>
          </a:xfrm>
          <a:prstGeom prst="rect">
            <a:avLst/>
          </a:prstGeom>
          <a:solidFill>
            <a:srgbClr val="A9D7FF"/>
          </a:solidFill>
          <a:ln/>
        </p:spPr>
      </p:sp>
      <p:sp>
        <p:nvSpPr>
          <p:cNvPr id="5" name="Text 3"/>
          <p:cNvSpPr/>
          <p:nvPr/>
        </p:nvSpPr>
        <p:spPr>
          <a:xfrm>
            <a:off x="736582" y="1351855"/>
            <a:ext cx="520687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000000"/>
                </a:solidFill>
                <a:latin typeface="Sora ExtraLight" pitchFamily="34" charset="0"/>
                <a:ea typeface="Sora ExtraLight" pitchFamily="34" charset="-122"/>
                <a:cs typeface="Sora ExtraLight" pitchFamily="34" charset="-120"/>
              </a:rPr>
              <a:t>TRAINING &amp; EVALUATION LANE</a:t>
            </a:r>
            <a:endParaRPr lang="en-US" sz="1050" dirty="0"/>
          </a:p>
        </p:txBody>
      </p:sp>
      <p:sp>
        <p:nvSpPr>
          <p:cNvPr id="6" name="Text 4"/>
          <p:cNvSpPr/>
          <p:nvPr/>
        </p:nvSpPr>
        <p:spPr>
          <a:xfrm>
            <a:off x="736582" y="1643261"/>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AI4I 2020</a:t>
            </a:r>
            <a:endParaRPr lang="en-US" sz="1700" dirty="0"/>
          </a:p>
        </p:txBody>
      </p:sp>
      <p:sp>
        <p:nvSpPr>
          <p:cNvPr id="7" name="Text 5"/>
          <p:cNvSpPr/>
          <p:nvPr/>
        </p:nvSpPr>
        <p:spPr>
          <a:xfrm>
            <a:off x="736582" y="2007691"/>
            <a:ext cx="2387540"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10,000 synthetic observations</a:t>
            </a:r>
            <a:endParaRPr lang="en-US" sz="1400" dirty="0"/>
          </a:p>
        </p:txBody>
      </p:sp>
      <p:sp>
        <p:nvSpPr>
          <p:cNvPr id="8" name="Text 6"/>
          <p:cNvSpPr/>
          <p:nvPr/>
        </p:nvSpPr>
        <p:spPr>
          <a:xfrm>
            <a:off x="3276518" y="1643261"/>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Preprocess</a:t>
            </a:r>
            <a:endParaRPr lang="en-US" sz="1700" dirty="0"/>
          </a:p>
        </p:txBody>
      </p:sp>
      <p:sp>
        <p:nvSpPr>
          <p:cNvPr id="9" name="Text 7"/>
          <p:cNvSpPr/>
          <p:nvPr/>
        </p:nvSpPr>
        <p:spPr>
          <a:xfrm>
            <a:off x="3276518" y="2007691"/>
            <a:ext cx="2387540"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Clean and prepare variables</a:t>
            </a:r>
            <a:endParaRPr lang="en-US" sz="1400" dirty="0"/>
          </a:p>
        </p:txBody>
      </p:sp>
      <p:sp>
        <p:nvSpPr>
          <p:cNvPr id="10" name="Text 8"/>
          <p:cNvSpPr/>
          <p:nvPr/>
        </p:nvSpPr>
        <p:spPr>
          <a:xfrm>
            <a:off x="736582" y="2657773"/>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Analyze</a:t>
            </a:r>
            <a:endParaRPr lang="en-US" sz="1700" dirty="0"/>
          </a:p>
        </p:txBody>
      </p:sp>
      <p:sp>
        <p:nvSpPr>
          <p:cNvPr id="11" name="Text 9"/>
          <p:cNvSpPr/>
          <p:nvPr/>
        </p:nvSpPr>
        <p:spPr>
          <a:xfrm>
            <a:off x="736582" y="3022203"/>
            <a:ext cx="2387540"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Explore patterns and failure modes</a:t>
            </a:r>
            <a:endParaRPr lang="en-US" sz="1400" dirty="0"/>
          </a:p>
        </p:txBody>
      </p:sp>
      <p:sp>
        <p:nvSpPr>
          <p:cNvPr id="12" name="Text 10"/>
          <p:cNvSpPr/>
          <p:nvPr/>
        </p:nvSpPr>
        <p:spPr>
          <a:xfrm>
            <a:off x="3276518" y="2657773"/>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Features</a:t>
            </a:r>
            <a:endParaRPr lang="en-US" sz="1700" dirty="0"/>
          </a:p>
        </p:txBody>
      </p:sp>
      <p:sp>
        <p:nvSpPr>
          <p:cNvPr id="13" name="Text 11"/>
          <p:cNvSpPr/>
          <p:nvPr/>
        </p:nvSpPr>
        <p:spPr>
          <a:xfrm>
            <a:off x="3276518" y="3022203"/>
            <a:ext cx="2387540" cy="248841"/>
          </a:xfrm>
          <a:prstGeom prst="rect">
            <a:avLst/>
          </a:prstGeom>
          <a:noFill/>
          <a:ln/>
        </p:spPr>
        <p:txBody>
          <a:bodyPr wrap="none" lIns="0" tIns="0" rIns="0" bIns="0" rtlCol="0" anchor="t"/>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Prepare model inputs</a:t>
            </a:r>
            <a:endParaRPr lang="en-US" sz="1400" dirty="0"/>
          </a:p>
        </p:txBody>
      </p:sp>
      <p:sp>
        <p:nvSpPr>
          <p:cNvPr id="14" name="Text 12"/>
          <p:cNvSpPr/>
          <p:nvPr/>
        </p:nvSpPr>
        <p:spPr>
          <a:xfrm>
            <a:off x="736582" y="3672284"/>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Models</a:t>
            </a:r>
            <a:endParaRPr lang="en-US" sz="1700" dirty="0"/>
          </a:p>
        </p:txBody>
      </p:sp>
      <p:sp>
        <p:nvSpPr>
          <p:cNvPr id="15" name="Text 13"/>
          <p:cNvSpPr/>
          <p:nvPr/>
        </p:nvSpPr>
        <p:spPr>
          <a:xfrm>
            <a:off x="736582" y="4036715"/>
            <a:ext cx="2387540"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Compare multiple algorithms</a:t>
            </a:r>
            <a:endParaRPr lang="en-US" sz="1400" dirty="0"/>
          </a:p>
        </p:txBody>
      </p:sp>
      <p:sp>
        <p:nvSpPr>
          <p:cNvPr id="16" name="Text 14"/>
          <p:cNvSpPr/>
          <p:nvPr/>
        </p:nvSpPr>
        <p:spPr>
          <a:xfrm>
            <a:off x="3276518" y="3672284"/>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Evaluate</a:t>
            </a:r>
            <a:endParaRPr lang="en-US" sz="1700" dirty="0"/>
          </a:p>
        </p:txBody>
      </p:sp>
      <p:sp>
        <p:nvSpPr>
          <p:cNvPr id="17" name="Text 15"/>
          <p:cNvSpPr/>
          <p:nvPr/>
        </p:nvSpPr>
        <p:spPr>
          <a:xfrm>
            <a:off x="3276518" y="4036715"/>
            <a:ext cx="2387540" cy="995363"/>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Cross-validation, confusion matrix, precision-recall, Precision@K</a:t>
            </a:r>
            <a:endParaRPr lang="en-US" sz="1400" dirty="0"/>
          </a:p>
        </p:txBody>
      </p:sp>
      <p:sp>
        <p:nvSpPr>
          <p:cNvPr id="18" name="Text 16"/>
          <p:cNvSpPr/>
          <p:nvPr/>
        </p:nvSpPr>
        <p:spPr>
          <a:xfrm>
            <a:off x="736582" y="5184477"/>
            <a:ext cx="4927477"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Risk policy</a:t>
            </a:r>
            <a:endParaRPr lang="en-US" sz="1700" dirty="0"/>
          </a:p>
        </p:txBody>
      </p:sp>
      <p:sp>
        <p:nvSpPr>
          <p:cNvPr id="19" name="Text 17"/>
          <p:cNvSpPr/>
          <p:nvPr/>
        </p:nvSpPr>
        <p:spPr>
          <a:xfrm>
            <a:off x="736582" y="5548908"/>
            <a:ext cx="4927477" cy="248841"/>
          </a:xfrm>
          <a:prstGeom prst="rect">
            <a:avLst/>
          </a:prstGeom>
          <a:noFill/>
          <a:ln/>
        </p:spPr>
        <p:txBody>
          <a:bodyPr wrap="none" lIns="0" tIns="0" rIns="0" bIns="0" rtlCol="0" anchor="t"/>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Connect scores to inspection capacity K</a:t>
            </a:r>
            <a:endParaRPr lang="en-US" sz="1400" dirty="0"/>
          </a:p>
        </p:txBody>
      </p:sp>
      <p:sp>
        <p:nvSpPr>
          <p:cNvPr id="20" name="Shape 18"/>
          <p:cNvSpPr/>
          <p:nvPr/>
        </p:nvSpPr>
        <p:spPr>
          <a:xfrm>
            <a:off x="6248244" y="1123255"/>
            <a:ext cx="5486263" cy="4903093"/>
          </a:xfrm>
          <a:prstGeom prst="rect">
            <a:avLst/>
          </a:prstGeom>
          <a:solidFill>
            <a:srgbClr val="D4ECFF"/>
          </a:solidFill>
          <a:ln/>
        </p:spPr>
      </p:sp>
      <p:sp>
        <p:nvSpPr>
          <p:cNvPr id="21" name="Text 19"/>
          <p:cNvSpPr/>
          <p:nvPr/>
        </p:nvSpPr>
        <p:spPr>
          <a:xfrm>
            <a:off x="6527637" y="1351855"/>
            <a:ext cx="5206870"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000000"/>
                </a:solidFill>
                <a:latin typeface="Sora ExtraLight" pitchFamily="34" charset="0"/>
                <a:ea typeface="Sora ExtraLight" pitchFamily="34" charset="-122"/>
                <a:cs typeface="Sora ExtraLight" pitchFamily="34" charset="-120"/>
              </a:rPr>
              <a:t>USER-FACING PREDICTION LANE</a:t>
            </a:r>
            <a:endParaRPr lang="en-US" sz="1050" dirty="0"/>
          </a:p>
        </p:txBody>
      </p:sp>
      <p:sp>
        <p:nvSpPr>
          <p:cNvPr id="22" name="Text 20"/>
          <p:cNvSpPr/>
          <p:nvPr/>
        </p:nvSpPr>
        <p:spPr>
          <a:xfrm>
            <a:off x="6527637" y="1643261"/>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New observation</a:t>
            </a:r>
            <a:endParaRPr lang="en-US" sz="1700" dirty="0"/>
          </a:p>
        </p:txBody>
      </p:sp>
      <p:sp>
        <p:nvSpPr>
          <p:cNvPr id="23" name="Text 21"/>
          <p:cNvSpPr/>
          <p:nvPr/>
        </p:nvSpPr>
        <p:spPr>
          <a:xfrm>
            <a:off x="6527637" y="2007691"/>
            <a:ext cx="2387540"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Current production conditions</a:t>
            </a:r>
            <a:endParaRPr lang="en-US" sz="1400" dirty="0"/>
          </a:p>
        </p:txBody>
      </p:sp>
      <p:sp>
        <p:nvSpPr>
          <p:cNvPr id="24" name="Text 22"/>
          <p:cNvSpPr/>
          <p:nvPr/>
        </p:nvSpPr>
        <p:spPr>
          <a:xfrm>
            <a:off x="9067573" y="1643261"/>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Prediction</a:t>
            </a:r>
            <a:endParaRPr lang="en-US" sz="1700" dirty="0"/>
          </a:p>
        </p:txBody>
      </p:sp>
      <p:sp>
        <p:nvSpPr>
          <p:cNvPr id="25" name="Text 23"/>
          <p:cNvSpPr/>
          <p:nvPr/>
        </p:nvSpPr>
        <p:spPr>
          <a:xfrm>
            <a:off x="9067573" y="2007691"/>
            <a:ext cx="2387540" cy="248841"/>
          </a:xfrm>
          <a:prstGeom prst="rect">
            <a:avLst/>
          </a:prstGeom>
          <a:noFill/>
          <a:ln/>
        </p:spPr>
        <p:txBody>
          <a:bodyPr wrap="none" lIns="0" tIns="0" rIns="0" bIns="0" rtlCol="0" anchor="t"/>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Estimate failure risk</a:t>
            </a:r>
            <a:endParaRPr lang="en-US" sz="1400" dirty="0"/>
          </a:p>
        </p:txBody>
      </p:sp>
      <p:sp>
        <p:nvSpPr>
          <p:cNvPr id="26" name="Text 24"/>
          <p:cNvSpPr/>
          <p:nvPr/>
        </p:nvSpPr>
        <p:spPr>
          <a:xfrm>
            <a:off x="6527637" y="2657673"/>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Prioritize</a:t>
            </a:r>
            <a:endParaRPr lang="en-US" sz="1700" dirty="0"/>
          </a:p>
        </p:txBody>
      </p:sp>
      <p:sp>
        <p:nvSpPr>
          <p:cNvPr id="27" name="Text 25"/>
          <p:cNvSpPr/>
          <p:nvPr/>
        </p:nvSpPr>
        <p:spPr>
          <a:xfrm>
            <a:off x="6527637" y="3022104"/>
            <a:ext cx="2387540"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Surface the highest-risk cases</a:t>
            </a:r>
            <a:endParaRPr lang="en-US" sz="1400" dirty="0"/>
          </a:p>
        </p:txBody>
      </p:sp>
      <p:sp>
        <p:nvSpPr>
          <p:cNvPr id="28" name="Text 26"/>
          <p:cNvSpPr/>
          <p:nvPr/>
        </p:nvSpPr>
        <p:spPr>
          <a:xfrm>
            <a:off x="9067573" y="2657673"/>
            <a:ext cx="2387540"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Explain</a:t>
            </a:r>
            <a:endParaRPr lang="en-US" sz="1700" dirty="0"/>
          </a:p>
        </p:txBody>
      </p:sp>
      <p:sp>
        <p:nvSpPr>
          <p:cNvPr id="29" name="Text 27"/>
          <p:cNvSpPr/>
          <p:nvPr/>
        </p:nvSpPr>
        <p:spPr>
          <a:xfrm>
            <a:off x="9067573" y="3022104"/>
            <a:ext cx="2387540"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SHAP and feature importance</a:t>
            </a:r>
            <a:endParaRPr lang="en-US" sz="1400" dirty="0"/>
          </a:p>
        </p:txBody>
      </p:sp>
      <p:sp>
        <p:nvSpPr>
          <p:cNvPr id="30" name="Text 28"/>
          <p:cNvSpPr/>
          <p:nvPr/>
        </p:nvSpPr>
        <p:spPr>
          <a:xfrm>
            <a:off x="6527637" y="3672086"/>
            <a:ext cx="4927477" cy="237430"/>
          </a:xfrm>
          <a:prstGeom prst="rect">
            <a:avLst/>
          </a:prstGeom>
          <a:noFill/>
          <a:ln/>
        </p:spPr>
        <p:txBody>
          <a:bodyPr wrap="none" lIns="0" tIns="0" rIns="0" bIns="0" rtlCol="0" anchor="t"/>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Dashboard</a:t>
            </a:r>
            <a:endParaRPr lang="en-US" sz="1700" dirty="0"/>
          </a:p>
        </p:txBody>
      </p:sp>
      <p:sp>
        <p:nvSpPr>
          <p:cNvPr id="31" name="Text 29"/>
          <p:cNvSpPr/>
          <p:nvPr/>
        </p:nvSpPr>
        <p:spPr>
          <a:xfrm>
            <a:off x="6527637" y="4036516"/>
            <a:ext cx="4927477" cy="248841"/>
          </a:xfrm>
          <a:prstGeom prst="rect">
            <a:avLst/>
          </a:prstGeom>
          <a:noFill/>
          <a:ln/>
        </p:spPr>
        <p:txBody>
          <a:bodyPr wrap="none" lIns="0" tIns="0" rIns="0" bIns="0" rtlCol="0" anchor="t"/>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Streamlit view for exploration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189" y="457200"/>
            <a:ext cx="6583595"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2E6E9E"/>
                </a:solidFill>
                <a:latin typeface="Sora ExtraLight" pitchFamily="34" charset="0"/>
                <a:ea typeface="Sora ExtraLight" pitchFamily="34" charset="-122"/>
                <a:cs typeface="Sora ExtraLight" pitchFamily="34" charset="-120"/>
              </a:rPr>
              <a:t>DATASET &amp; TECHNOLOGY STACK</a:t>
            </a:r>
            <a:endParaRPr lang="en-US" sz="1050" dirty="0"/>
          </a:p>
        </p:txBody>
      </p:sp>
      <p:sp>
        <p:nvSpPr>
          <p:cNvPr id="3" name="Text 1"/>
          <p:cNvSpPr/>
          <p:nvPr/>
        </p:nvSpPr>
        <p:spPr>
          <a:xfrm>
            <a:off x="457189" y="716855"/>
            <a:ext cx="6126406" cy="893961"/>
          </a:xfrm>
          <a:prstGeom prst="rect">
            <a:avLst/>
          </a:prstGeom>
          <a:noFill/>
          <a:ln/>
        </p:spPr>
        <p:txBody>
          <a:bodyPr wrap="square" lIns="0" tIns="0" rIns="0" bIns="0" rtlCol="0" anchor="t">
            <a:normAutofit/>
          </a:bodyPr>
          <a:lstStyle/>
          <a:p>
            <a:pPr algn="l" indent="0" marL="0">
              <a:lnSpc>
                <a:spcPct val="92000"/>
              </a:lnSpc>
              <a:buNone/>
            </a:pPr>
            <a:r>
              <a:rPr lang="en-US" sz="3200" dirty="0">
                <a:solidFill>
                  <a:srgbClr val="0A3A5C"/>
                </a:solidFill>
                <a:latin typeface="Sora Light" pitchFamily="34" charset="0"/>
                <a:ea typeface="Sora Light" pitchFamily="34" charset="-122"/>
                <a:cs typeface="Sora Light" pitchFamily="34" charset="-120"/>
              </a:rPr>
              <a:t>A focused dataset, a practical analytics stack</a:t>
            </a:r>
            <a:endParaRPr lang="en-US" sz="3200" dirty="0"/>
          </a:p>
        </p:txBody>
      </p:sp>
      <p:sp>
        <p:nvSpPr>
          <p:cNvPr id="4" name="Text 2"/>
          <p:cNvSpPr/>
          <p:nvPr/>
        </p:nvSpPr>
        <p:spPr>
          <a:xfrm>
            <a:off x="457189" y="1788616"/>
            <a:ext cx="6126406" cy="1561703"/>
          </a:xfrm>
          <a:prstGeom prst="rect">
            <a:avLst/>
          </a:prstGeom>
          <a:noFill/>
          <a:ln/>
        </p:spPr>
        <p:txBody>
          <a:bodyPr wrap="square" lIns="0" tIns="0" rIns="0" bIns="0" rtlCol="0" anchor="t">
            <a:normAutofit/>
          </a:bodyPr>
          <a:lstStyle/>
          <a:p>
            <a:pPr algn="l" indent="0" marL="0">
              <a:lnSpc>
                <a:spcPct val="117000"/>
              </a:lnSpc>
              <a:spcAft>
                <a:spcPts val="1200"/>
              </a:spcAft>
              <a:buNone/>
            </a:pPr>
            <a:r>
              <a:rPr lang="en-US" sz="1400" dirty="0">
                <a:solidFill>
                  <a:srgbClr val="000000"/>
                </a:solidFill>
                <a:latin typeface="Sora ExtraLight" pitchFamily="34" charset="0"/>
                <a:ea typeface="Sora ExtraLight" pitchFamily="34" charset="-122"/>
                <a:cs typeface="Sora ExtraLight" pitchFamily="34" charset="-120"/>
              </a:rPr>
              <a:t>AI4I 2020 is synthetic, with 10,000 observations and a binary Machine Failure target.</a:t>
            </a:r>
            <a:endParaRPr lang="en-US" sz="1400" dirty="0"/>
          </a:p>
          <a:p>
            <a:pPr algn="l" indent="0" marL="0">
              <a:lnSpc>
                <a:spcPct val="117000"/>
              </a:lnSpc>
              <a:spcAft>
                <a:spcPts val="1200"/>
              </a:spcAft>
              <a:buNone/>
            </a:pPr>
            <a:r>
              <a:rPr lang="en-US" sz="1400" dirty="0">
                <a:solidFill>
                  <a:srgbClr val="000000"/>
                </a:solidFill>
                <a:latin typeface="Sora ExtraLight" pitchFamily="34" charset="0"/>
                <a:ea typeface="Sora ExtraLight" pitchFamily="34" charset="-122"/>
                <a:cs typeface="Sora ExtraLight" pitchFamily="34" charset="-120"/>
              </a:rPr>
              <a:t>Source: UCI Machine Learning Repository.</a:t>
            </a:r>
            <a:endParaRPr lang="en-US" sz="1400" dirty="0"/>
          </a:p>
          <a:p>
            <a:pPr algn="l" indent="0" marL="0">
              <a:lnSpc>
                <a:spcPct val="117000"/>
              </a:lnSpc>
              <a:buNone/>
            </a:pPr>
            <a:r>
              <a:rPr lang="en-US" sz="1400" b="1" dirty="0">
                <a:solidFill>
                  <a:srgbClr val="000000"/>
                </a:solidFill>
                <a:latin typeface="Sora Bold" pitchFamily="34" charset="0"/>
                <a:ea typeface="Sora Bold" pitchFamily="34" charset="-122"/>
                <a:cs typeface="Sora Bold" pitchFamily="34" charset="-120"/>
              </a:rPr>
              <a:t>Production variables:</a:t>
            </a:r>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 Product type · air temperature · process temperature · rotational speed · torque · tool wear</a:t>
            </a:r>
            <a:endParaRPr lang="en-US" sz="1400" dirty="0"/>
          </a:p>
        </p:txBody>
      </p:sp>
      <p:pic>
        <p:nvPicPr>
          <p:cNvPr id="5" name="Image 0" descr="preencoded.png">    </p:cNvPr>
          <p:cNvPicPr>
            <a:picLocks noChangeAspect="1"/>
          </p:cNvPicPr>
          <p:nvPr/>
        </p:nvPicPr>
        <p:blipFill>
          <a:blip r:embed="rId1"/>
          <a:stretch>
            <a:fillRect/>
          </a:stretch>
        </p:blipFill>
        <p:spPr>
          <a:xfrm>
            <a:off x="7497873" y="0"/>
            <a:ext cx="4693822" cy="3807520"/>
          </a:xfrm>
          <a:prstGeom prst="rect">
            <a:avLst/>
          </a:prstGeom>
        </p:spPr>
      </p:pic>
      <p:sp>
        <p:nvSpPr>
          <p:cNvPr id="6" name="Shape 3"/>
          <p:cNvSpPr/>
          <p:nvPr/>
        </p:nvSpPr>
        <p:spPr>
          <a:xfrm>
            <a:off x="0" y="4264720"/>
            <a:ext cx="3759106" cy="2593280"/>
          </a:xfrm>
          <a:prstGeom prst="rect">
            <a:avLst/>
          </a:prstGeom>
          <a:solidFill>
            <a:srgbClr val="A9D7FF"/>
          </a:solidFill>
          <a:ln/>
        </p:spPr>
      </p:sp>
      <p:sp>
        <p:nvSpPr>
          <p:cNvPr id="7" name="Text 4"/>
          <p:cNvSpPr/>
          <p:nvPr/>
        </p:nvSpPr>
        <p:spPr>
          <a:xfrm>
            <a:off x="457189" y="4721920"/>
            <a:ext cx="2844729" cy="474861"/>
          </a:xfrm>
          <a:prstGeom prst="rect">
            <a:avLst/>
          </a:prstGeom>
          <a:noFill/>
          <a:ln/>
        </p:spPr>
        <p:txBody>
          <a:bodyPr wrap="square" lIns="0" tIns="0" rIns="0" bIns="0" rtlCol="0" anchor="t">
            <a:normAutofit/>
          </a:bodyPr>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Programming &amp; machine learning</a:t>
            </a:r>
            <a:endParaRPr lang="en-US" sz="1700" dirty="0"/>
          </a:p>
        </p:txBody>
      </p:sp>
      <p:sp>
        <p:nvSpPr>
          <p:cNvPr id="8" name="Text 5"/>
          <p:cNvSpPr/>
          <p:nvPr/>
        </p:nvSpPr>
        <p:spPr>
          <a:xfrm>
            <a:off x="457189" y="5323780"/>
            <a:ext cx="2844729" cy="746522"/>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Python · Logistic Regression · Decision Tree · Random Forest / Bagging · AdaBoost · SVM</a:t>
            </a:r>
            <a:endParaRPr lang="en-US" sz="1400" dirty="0"/>
          </a:p>
        </p:txBody>
      </p:sp>
      <p:sp>
        <p:nvSpPr>
          <p:cNvPr id="9" name="Shape 6"/>
          <p:cNvSpPr/>
          <p:nvPr/>
        </p:nvSpPr>
        <p:spPr>
          <a:xfrm>
            <a:off x="4216295" y="4264720"/>
            <a:ext cx="3759106" cy="2593280"/>
          </a:xfrm>
          <a:prstGeom prst="rect">
            <a:avLst/>
          </a:prstGeom>
          <a:solidFill>
            <a:srgbClr val="A9D7FF"/>
          </a:solidFill>
          <a:ln/>
        </p:spPr>
      </p:sp>
      <p:sp>
        <p:nvSpPr>
          <p:cNvPr id="10" name="Text 7"/>
          <p:cNvSpPr/>
          <p:nvPr/>
        </p:nvSpPr>
        <p:spPr>
          <a:xfrm>
            <a:off x="4673483" y="4721920"/>
            <a:ext cx="2844729" cy="474861"/>
          </a:xfrm>
          <a:prstGeom prst="rect">
            <a:avLst/>
          </a:prstGeom>
          <a:noFill/>
          <a:ln/>
        </p:spPr>
        <p:txBody>
          <a:bodyPr wrap="square" lIns="0" tIns="0" rIns="0" bIns="0" rtlCol="0" anchor="t">
            <a:normAutofit/>
          </a:bodyPr>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Processing, statistics &amp; explainability</a:t>
            </a:r>
            <a:endParaRPr lang="en-US" sz="1700" dirty="0"/>
          </a:p>
        </p:txBody>
      </p:sp>
      <p:sp>
        <p:nvSpPr>
          <p:cNvPr id="11" name="Text 8"/>
          <p:cNvSpPr/>
          <p:nvPr/>
        </p:nvSpPr>
        <p:spPr>
          <a:xfrm>
            <a:off x="4673483" y="5323780"/>
            <a:ext cx="2844729" cy="995363"/>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Preprocessing, analysis, cross-validation, confusion matrix, precision-recall · SHAP · feature importance</a:t>
            </a:r>
            <a:endParaRPr lang="en-US" sz="1400" dirty="0"/>
          </a:p>
        </p:txBody>
      </p:sp>
      <p:sp>
        <p:nvSpPr>
          <p:cNvPr id="12" name="Shape 9"/>
          <p:cNvSpPr/>
          <p:nvPr/>
        </p:nvSpPr>
        <p:spPr>
          <a:xfrm>
            <a:off x="8432589" y="4264720"/>
            <a:ext cx="3759106" cy="2593280"/>
          </a:xfrm>
          <a:prstGeom prst="rect">
            <a:avLst/>
          </a:prstGeom>
          <a:solidFill>
            <a:srgbClr val="A9D7FF"/>
          </a:solidFill>
          <a:ln/>
        </p:spPr>
      </p:sp>
      <p:sp>
        <p:nvSpPr>
          <p:cNvPr id="13" name="Text 10"/>
          <p:cNvSpPr/>
          <p:nvPr/>
        </p:nvSpPr>
        <p:spPr>
          <a:xfrm>
            <a:off x="8889778" y="4721920"/>
            <a:ext cx="2844729" cy="474861"/>
          </a:xfrm>
          <a:prstGeom prst="rect">
            <a:avLst/>
          </a:prstGeom>
          <a:noFill/>
          <a:ln/>
        </p:spPr>
        <p:txBody>
          <a:bodyPr wrap="square" lIns="0" tIns="0" rIns="0" bIns="0" rtlCol="0" anchor="t">
            <a:normAutofit/>
          </a:bodyPr>
          <a:lstStyle/>
          <a:p>
            <a:pPr algn="l" indent="0" marL="0">
              <a:lnSpc>
                <a:spcPct val="92000"/>
              </a:lnSpc>
              <a:buNone/>
            </a:pPr>
            <a:r>
              <a:rPr lang="en-US" sz="1700" dirty="0">
                <a:solidFill>
                  <a:srgbClr val="000000"/>
                </a:solidFill>
                <a:latin typeface="Sora Light" pitchFamily="34" charset="0"/>
                <a:ea typeface="Sora Light" pitchFamily="34" charset="-122"/>
                <a:cs typeface="Sora Light" pitchFamily="34" charset="-120"/>
              </a:rPr>
              <a:t>Visualization, dashboard &amp; documentation</a:t>
            </a:r>
            <a:endParaRPr lang="en-US" sz="1700" dirty="0"/>
          </a:p>
        </p:txBody>
      </p:sp>
      <p:sp>
        <p:nvSpPr>
          <p:cNvPr id="14" name="Text 11"/>
          <p:cNvSpPr/>
          <p:nvPr/>
        </p:nvSpPr>
        <p:spPr>
          <a:xfrm>
            <a:off x="8889778" y="5323780"/>
            <a:ext cx="2844729" cy="497681"/>
          </a:xfrm>
          <a:prstGeom prst="rect">
            <a:avLst/>
          </a:prstGeom>
          <a:noFill/>
          <a:ln/>
        </p:spPr>
        <p:txBody>
          <a:bodyPr wrap="square" lIns="0" tIns="0" rIns="0" bIns="0" rtlCol="0" anchor="t">
            <a:normAutofit/>
          </a:bodyPr>
          <a:lstStyle/>
          <a:p>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Interactive analytics · Streamlit · project documentation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189" y="457200"/>
            <a:ext cx="3505112" cy="169962"/>
          </a:xfrm>
          <a:prstGeom prst="rect">
            <a:avLst/>
          </a:prstGeom>
          <a:noFill/>
          <a:ln/>
        </p:spPr>
        <p:txBody>
          <a:bodyPr wrap="none" lIns="0" tIns="0" rIns="0" bIns="0" rtlCol="0" anchor="t"/>
          <a:lstStyle/>
          <a:p>
            <a:pPr algn="l" indent="0" marL="0">
              <a:lnSpc>
                <a:spcPct val="113000"/>
              </a:lnSpc>
              <a:buNone/>
            </a:pPr>
            <a:r>
              <a:rPr lang="en-US" sz="1000" spc="59" kern="100" dirty="0">
                <a:solidFill>
                  <a:srgbClr val="2E6E9E"/>
                </a:solidFill>
                <a:latin typeface="Sora ExtraLight" pitchFamily="34" charset="0"/>
                <a:ea typeface="Sora ExtraLight" pitchFamily="34" charset="-122"/>
                <a:cs typeface="Sora ExtraLight" pitchFamily="34" charset="-120"/>
              </a:rPr>
              <a:t>THE DIFFERENCE</a:t>
            </a:r>
            <a:endParaRPr lang="en-US" sz="1000" dirty="0"/>
          </a:p>
        </p:txBody>
      </p:sp>
      <p:sp>
        <p:nvSpPr>
          <p:cNvPr id="3" name="Text 1"/>
          <p:cNvSpPr/>
          <p:nvPr/>
        </p:nvSpPr>
        <p:spPr>
          <a:xfrm>
            <a:off x="457189" y="691555"/>
            <a:ext cx="3047924" cy="2518767"/>
          </a:xfrm>
          <a:prstGeom prst="rect">
            <a:avLst/>
          </a:prstGeom>
          <a:noFill/>
          <a:ln/>
        </p:spPr>
        <p:txBody>
          <a:bodyPr wrap="square" lIns="0" tIns="0" rIns="0" bIns="0" rtlCol="0" anchor="t">
            <a:normAutofit/>
          </a:bodyPr>
          <a:lstStyle/>
          <a:p>
            <a:pPr algn="l" indent="0" marL="0">
              <a:lnSpc>
                <a:spcPct val="92000"/>
              </a:lnSpc>
              <a:buNone/>
            </a:pPr>
            <a:r>
              <a:rPr lang="en-US" sz="3000" dirty="0">
                <a:solidFill>
                  <a:srgbClr val="0A3A5C"/>
                </a:solidFill>
                <a:latin typeface="Sora Light" pitchFamily="34" charset="0"/>
                <a:ea typeface="Sora Light" pitchFamily="34" charset="-122"/>
                <a:cs typeface="Sora Light" pitchFamily="34" charset="-120"/>
              </a:rPr>
              <a:t>Prediction is the starting point. Inspection priority is the decision.</a:t>
            </a:r>
            <a:endParaRPr lang="en-US" sz="3000" dirty="0"/>
          </a:p>
        </p:txBody>
      </p:sp>
      <p:sp>
        <p:nvSpPr>
          <p:cNvPr id="4" name="Shape 2"/>
          <p:cNvSpPr/>
          <p:nvPr/>
        </p:nvSpPr>
        <p:spPr>
          <a:xfrm>
            <a:off x="4267093" y="0"/>
            <a:ext cx="7924602" cy="3276600"/>
          </a:xfrm>
          <a:prstGeom prst="rect">
            <a:avLst/>
          </a:prstGeom>
          <a:solidFill>
            <a:srgbClr val="0A3A5C"/>
          </a:solidFill>
          <a:ln/>
        </p:spPr>
      </p:sp>
      <p:sp>
        <p:nvSpPr>
          <p:cNvPr id="5" name="Text 3"/>
          <p:cNvSpPr/>
          <p:nvPr/>
        </p:nvSpPr>
        <p:spPr>
          <a:xfrm>
            <a:off x="4648084" y="880666"/>
            <a:ext cx="7543611" cy="169962"/>
          </a:xfrm>
          <a:prstGeom prst="rect">
            <a:avLst/>
          </a:prstGeom>
          <a:noFill/>
          <a:ln/>
        </p:spPr>
        <p:txBody>
          <a:bodyPr wrap="none" lIns="0" tIns="0" rIns="0" bIns="0" rtlCol="0" anchor="t"/>
          <a:lstStyle/>
          <a:p>
            <a:pPr algn="l" indent="0" marL="0">
              <a:lnSpc>
                <a:spcPct val="113000"/>
              </a:lnSpc>
              <a:buNone/>
            </a:pPr>
            <a:r>
              <a:rPr lang="en-US" sz="1000" spc="59" kern="100" dirty="0">
                <a:solidFill>
                  <a:srgbClr val="A9D7FF"/>
                </a:solidFill>
                <a:latin typeface="Sora ExtraLight" pitchFamily="34" charset="0"/>
                <a:ea typeface="Sora ExtraLight" pitchFamily="34" charset="-122"/>
                <a:cs typeface="Sora ExtraLight" pitchFamily="34" charset="-120"/>
              </a:rPr>
              <a:t>CONVENTIONAL PREDICTIVE MODEL</a:t>
            </a:r>
            <a:endParaRPr lang="en-US" sz="1000" dirty="0"/>
          </a:p>
        </p:txBody>
      </p:sp>
      <p:sp>
        <p:nvSpPr>
          <p:cNvPr id="6" name="Text 4"/>
          <p:cNvSpPr/>
          <p:nvPr/>
        </p:nvSpPr>
        <p:spPr>
          <a:xfrm>
            <a:off x="4648084" y="1115020"/>
            <a:ext cx="7162621" cy="262334"/>
          </a:xfrm>
          <a:prstGeom prst="rect">
            <a:avLst/>
          </a:prstGeom>
          <a:noFill/>
          <a:ln/>
        </p:spPr>
        <p:txBody>
          <a:bodyPr wrap="none" lIns="0" tIns="0" rIns="0" bIns="0" rtlCol="0" anchor="t"/>
          <a:lstStyle/>
          <a:p>
            <a:pPr algn="l" indent="0" marL="0">
              <a:lnSpc>
                <a:spcPct val="92000"/>
              </a:lnSpc>
              <a:buNone/>
            </a:pPr>
            <a:r>
              <a:rPr lang="en-US" sz="1900" dirty="0">
                <a:solidFill>
                  <a:srgbClr val="FFFFFF"/>
                </a:solidFill>
                <a:latin typeface="Sora Light" pitchFamily="34" charset="0"/>
                <a:ea typeface="Sora Light" pitchFamily="34" charset="-122"/>
                <a:cs typeface="Sora Light" pitchFamily="34" charset="-120"/>
              </a:rPr>
              <a:t>Optimize the prediction task</a:t>
            </a:r>
            <a:endParaRPr lang="en-US" sz="1900" dirty="0"/>
          </a:p>
        </p:txBody>
      </p:sp>
      <p:sp>
        <p:nvSpPr>
          <p:cNvPr id="7" name="Text 5"/>
          <p:cNvSpPr/>
          <p:nvPr/>
        </p:nvSpPr>
        <p:spPr>
          <a:xfrm>
            <a:off x="4648084" y="1489373"/>
            <a:ext cx="1676358" cy="67984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FFFFFF"/>
                </a:solidFill>
                <a:latin typeface="Sora ExtraLight" pitchFamily="34" charset="0"/>
                <a:ea typeface="Sora ExtraLight" pitchFamily="34" charset="-122"/>
                <a:cs typeface="Sora ExtraLight" pitchFamily="34" charset="-120"/>
              </a:rPr>
              <a:t>Predict a binary Machine Failure outcome.</a:t>
            </a:r>
            <a:endParaRPr lang="en-US" sz="1300" dirty="0"/>
          </a:p>
        </p:txBody>
      </p:sp>
      <p:sp>
        <p:nvSpPr>
          <p:cNvPr id="8" name="Text 6"/>
          <p:cNvSpPr/>
          <p:nvPr/>
        </p:nvSpPr>
        <p:spPr>
          <a:xfrm>
            <a:off x="6476838" y="1489373"/>
            <a:ext cx="1676358" cy="906463"/>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FFFFFF"/>
                </a:solidFill>
                <a:latin typeface="Sora ExtraLight" pitchFamily="34" charset="0"/>
                <a:ea typeface="Sora ExtraLight" pitchFamily="34" charset="-122"/>
                <a:cs typeface="Sora ExtraLight" pitchFamily="34" charset="-120"/>
              </a:rPr>
              <a:t>Report model performance through standard metrics.</a:t>
            </a:r>
            <a:endParaRPr lang="en-US" sz="1300" dirty="0"/>
          </a:p>
        </p:txBody>
      </p:sp>
      <p:sp>
        <p:nvSpPr>
          <p:cNvPr id="9" name="Text 7"/>
          <p:cNvSpPr/>
          <p:nvPr/>
        </p:nvSpPr>
        <p:spPr>
          <a:xfrm>
            <a:off x="8305592" y="1489373"/>
            <a:ext cx="1676358" cy="67984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FFFFFF"/>
                </a:solidFill>
                <a:latin typeface="Sora ExtraLight" pitchFamily="34" charset="0"/>
                <a:ea typeface="Sora ExtraLight" pitchFamily="34" charset="-122"/>
                <a:cs typeface="Sora ExtraLight" pitchFamily="34" charset="-120"/>
              </a:rPr>
              <a:t>Focus on whether the prediction is correct.</a:t>
            </a:r>
            <a:endParaRPr lang="en-US" sz="1300" dirty="0"/>
          </a:p>
        </p:txBody>
      </p:sp>
      <p:sp>
        <p:nvSpPr>
          <p:cNvPr id="10" name="Text 8"/>
          <p:cNvSpPr/>
          <p:nvPr/>
        </p:nvSpPr>
        <p:spPr>
          <a:xfrm>
            <a:off x="10134346" y="1489373"/>
            <a:ext cx="1676358" cy="679847"/>
          </a:xfrm>
          <a:prstGeom prst="rect">
            <a:avLst/>
          </a:prstGeom>
          <a:noFill/>
          <a:ln/>
        </p:spPr>
        <p:txBody>
          <a:bodyPr wrap="square" lIns="0" tIns="0" rIns="0" bIns="0" rtlCol="0" anchor="t">
            <a:normAutofit/>
          </a:bodyPr>
          <a:lstStyle/>
          <a:p>
            <a:pPr algn="l" indent="0" marL="0">
              <a:lnSpc>
                <a:spcPct val="113000"/>
              </a:lnSpc>
              <a:buNone/>
            </a:pPr>
            <a:r>
              <a:rPr lang="en-US" sz="1300" dirty="0">
                <a:solidFill>
                  <a:srgbClr val="FFFFFF"/>
                </a:solidFill>
                <a:latin typeface="Sora ExtraLight" pitchFamily="34" charset="0"/>
                <a:ea typeface="Sora ExtraLight" pitchFamily="34" charset="-122"/>
                <a:cs typeface="Sora ExtraLight" pitchFamily="34" charset="-120"/>
              </a:rPr>
              <a:t>Leave inspection selection outside the model view.</a:t>
            </a:r>
            <a:endParaRPr lang="en-US" sz="1300" dirty="0"/>
          </a:p>
        </p:txBody>
      </p:sp>
      <p:sp>
        <p:nvSpPr>
          <p:cNvPr id="11" name="Shape 9"/>
          <p:cNvSpPr/>
          <p:nvPr/>
        </p:nvSpPr>
        <p:spPr>
          <a:xfrm>
            <a:off x="0" y="3581400"/>
            <a:ext cx="5943451" cy="3276600"/>
          </a:xfrm>
          <a:prstGeom prst="rect">
            <a:avLst/>
          </a:prstGeom>
          <a:solidFill>
            <a:srgbClr val="A9D7FF"/>
          </a:solidFill>
          <a:ln/>
        </p:spPr>
      </p:sp>
      <p:sp>
        <p:nvSpPr>
          <p:cNvPr id="12" name="Text 10"/>
          <p:cNvSpPr/>
          <p:nvPr/>
        </p:nvSpPr>
        <p:spPr>
          <a:xfrm>
            <a:off x="380990" y="3955455"/>
            <a:ext cx="5562461" cy="169962"/>
          </a:xfrm>
          <a:prstGeom prst="rect">
            <a:avLst/>
          </a:prstGeom>
          <a:noFill/>
          <a:ln/>
        </p:spPr>
        <p:txBody>
          <a:bodyPr wrap="none" lIns="0" tIns="0" rIns="0" bIns="0" rtlCol="0" anchor="t"/>
          <a:lstStyle/>
          <a:p>
            <a:pPr algn="l" indent="0" marL="0">
              <a:lnSpc>
                <a:spcPct val="113000"/>
              </a:lnSpc>
              <a:buNone/>
            </a:pPr>
            <a:r>
              <a:rPr lang="en-US" sz="1000" spc="59" kern="100" dirty="0">
                <a:solidFill>
                  <a:srgbClr val="0A3A5C"/>
                </a:solidFill>
                <a:latin typeface="Sora ExtraLight" pitchFamily="34" charset="0"/>
                <a:ea typeface="Sora ExtraLight" pitchFamily="34" charset="-122"/>
                <a:cs typeface="Sora ExtraLight" pitchFamily="34" charset="-120"/>
              </a:rPr>
              <a:t>PRODUCTION LINE QUALITY RISK ADVISOR</a:t>
            </a:r>
            <a:endParaRPr lang="en-US" sz="1000" dirty="0"/>
          </a:p>
        </p:txBody>
      </p:sp>
      <p:sp>
        <p:nvSpPr>
          <p:cNvPr id="13" name="Text 11"/>
          <p:cNvSpPr/>
          <p:nvPr/>
        </p:nvSpPr>
        <p:spPr>
          <a:xfrm>
            <a:off x="380990" y="4189809"/>
            <a:ext cx="5181470" cy="262334"/>
          </a:xfrm>
          <a:prstGeom prst="rect">
            <a:avLst/>
          </a:prstGeom>
          <a:noFill/>
          <a:ln/>
        </p:spPr>
        <p:txBody>
          <a:bodyPr wrap="none" lIns="0" tIns="0" rIns="0" bIns="0" rtlCol="0" anchor="t"/>
          <a:lstStyle/>
          <a:p>
            <a:pPr algn="l" indent="0" marL="0">
              <a:lnSpc>
                <a:spcPct val="92000"/>
              </a:lnSpc>
              <a:buNone/>
            </a:pPr>
            <a:r>
              <a:rPr lang="en-US" sz="1900" dirty="0">
                <a:solidFill>
                  <a:srgbClr val="000000"/>
                </a:solidFill>
                <a:latin typeface="Sora Light" pitchFamily="34" charset="0"/>
                <a:ea typeface="Sora Light" pitchFamily="34" charset="-122"/>
                <a:cs typeface="Sora Light" pitchFamily="34" charset="-120"/>
              </a:rPr>
              <a:t>Connect risk to action</a:t>
            </a:r>
            <a:endParaRPr lang="en-US" sz="1900" dirty="0"/>
          </a:p>
        </p:txBody>
      </p:sp>
      <p:sp>
        <p:nvSpPr>
          <p:cNvPr id="14" name="Text 12"/>
          <p:cNvSpPr/>
          <p:nvPr/>
        </p:nvSpPr>
        <p:spPr>
          <a:xfrm>
            <a:off x="380990" y="4564162"/>
            <a:ext cx="5181470" cy="1919684"/>
          </a:xfrm>
          <a:prstGeom prst="rect">
            <a:avLst/>
          </a:prstGeom>
          <a:noFill/>
          <a:ln/>
        </p:spPr>
        <p:txBody>
          <a:bodyPr wrap="square" lIns="0" tIns="0" rIns="0" bIns="0" rtlCol="0" anchor="t"/>
          <a:lstStyle/>
          <a:p>
            <a:pPr algn="l" indent="0" marL="0">
              <a:lnSpc>
                <a:spcPct val="113000"/>
              </a:lnSpc>
              <a:spcAft>
                <a:spcPts val="1100"/>
              </a:spcAft>
              <a:buNone/>
            </a:pPr>
            <a:r>
              <a:rPr lang="en-US" sz="1300" dirty="0">
                <a:solidFill>
                  <a:srgbClr val="000000"/>
                </a:solidFill>
                <a:latin typeface="Sora ExtraLight" pitchFamily="34" charset="0"/>
                <a:ea typeface="Sora ExtraLight" pitchFamily="34" charset="-122"/>
                <a:cs typeface="Sora ExtraLight" pitchFamily="34" charset="-120"/>
              </a:rPr>
              <a:t>Prioritize cases around inspection capacity K.</a:t>
            </a:r>
            <a:endParaRPr lang="en-US" sz="1300" dirty="0"/>
          </a:p>
          <a:p>
            <a:pPr algn="l" indent="0" marL="0">
              <a:lnSpc>
                <a:spcPct val="113000"/>
              </a:lnSpc>
              <a:spcAft>
                <a:spcPts val="1100"/>
              </a:spcAft>
              <a:buNone/>
            </a:pPr>
            <a:r>
              <a:rPr lang="en-US" sz="1300" dirty="0">
                <a:solidFill>
                  <a:srgbClr val="000000"/>
                </a:solidFill>
                <a:latin typeface="Sora ExtraLight" pitchFamily="34" charset="0"/>
                <a:ea typeface="Sora ExtraLight" pitchFamily="34" charset="-122"/>
                <a:cs typeface="Sora ExtraLight" pitchFamily="34" charset="-120"/>
              </a:rPr>
              <a:t>Use Precision@K alongside cross-validation and precision-recall.</a:t>
            </a:r>
            <a:endParaRPr lang="en-US" sz="1300" dirty="0"/>
          </a:p>
          <a:p>
            <a:pPr algn="l" indent="0" marL="0">
              <a:lnSpc>
                <a:spcPct val="113000"/>
              </a:lnSpc>
              <a:spcAft>
                <a:spcPts val="1100"/>
              </a:spcAft>
              <a:buNone/>
            </a:pPr>
            <a:r>
              <a:rPr lang="en-US" sz="1300" dirty="0">
                <a:solidFill>
                  <a:srgbClr val="000000"/>
                </a:solidFill>
                <a:latin typeface="Sora ExtraLight" pitchFamily="34" charset="0"/>
                <a:ea typeface="Sora ExtraLight" pitchFamily="34" charset="-122"/>
                <a:cs typeface="Sora ExtraLight" pitchFamily="34" charset="-120"/>
              </a:rPr>
              <a:t>Include statistics, baselines, and model comparisons.</a:t>
            </a:r>
            <a:endParaRPr lang="en-US" sz="1300" dirty="0"/>
          </a:p>
          <a:p>
            <a:pPr algn="l" indent="0" marL="0">
              <a:lnSpc>
                <a:spcPct val="113000"/>
              </a:lnSpc>
              <a:spcAft>
                <a:spcPts val="1100"/>
              </a:spcAft>
              <a:buNone/>
            </a:pPr>
            <a:r>
              <a:rPr lang="en-US" sz="1300" dirty="0">
                <a:solidFill>
                  <a:srgbClr val="000000"/>
                </a:solidFill>
                <a:latin typeface="Sora ExtraLight" pitchFamily="34" charset="0"/>
                <a:ea typeface="Sora ExtraLight" pitchFamily="34" charset="-122"/>
                <a:cs typeface="Sora ExtraLight" pitchFamily="34" charset="-120"/>
              </a:rPr>
              <a:t>Use SHAP and feature importance to support explanation.</a:t>
            </a:r>
            <a:endParaRPr lang="en-US" sz="1300" dirty="0"/>
          </a:p>
          <a:p>
            <a:pPr algn="l" indent="0" marL="0">
              <a:lnSpc>
                <a:spcPct val="113000"/>
              </a:lnSpc>
              <a:buNone/>
            </a:pPr>
            <a:r>
              <a:rPr lang="en-US" sz="1300" dirty="0">
                <a:solidFill>
                  <a:srgbClr val="000000"/>
                </a:solidFill>
                <a:latin typeface="Sora ExtraLight" pitchFamily="34" charset="0"/>
                <a:ea typeface="Sora ExtraLight" pitchFamily="34" charset="-122"/>
                <a:cs typeface="Sora ExtraLight" pitchFamily="34" charset="-120"/>
              </a:rPr>
              <a:t>Enable interactive exploration through Streamlit.</a:t>
            </a:r>
            <a:endParaRPr lang="en-US" sz="1300" dirty="0"/>
          </a:p>
        </p:txBody>
      </p:sp>
      <p:sp>
        <p:nvSpPr>
          <p:cNvPr id="15" name="Shape 13"/>
          <p:cNvSpPr/>
          <p:nvPr/>
        </p:nvSpPr>
        <p:spPr>
          <a:xfrm>
            <a:off x="6248244" y="3581400"/>
            <a:ext cx="5943451" cy="3276600"/>
          </a:xfrm>
          <a:prstGeom prst="rect">
            <a:avLst/>
          </a:prstGeom>
          <a:solidFill>
            <a:srgbClr val="FFD976"/>
          </a:solidFill>
          <a:ln/>
        </p:spPr>
      </p:sp>
      <p:sp>
        <p:nvSpPr>
          <p:cNvPr id="16" name="Text 14"/>
          <p:cNvSpPr/>
          <p:nvPr/>
        </p:nvSpPr>
        <p:spPr>
          <a:xfrm>
            <a:off x="6553036" y="3810000"/>
            <a:ext cx="5333867" cy="2982020"/>
          </a:xfrm>
          <a:prstGeom prst="rect">
            <a:avLst/>
          </a:prstGeom>
          <a:noFill/>
          <a:ln/>
        </p:spPr>
        <p:txBody>
          <a:bodyPr wrap="square" lIns="0" tIns="0" rIns="0" bIns="0" rtlCol="0" anchor="t">
            <a:normAutofit/>
          </a:bodyPr>
          <a:lstStyle/>
          <a:p>
            <a:pPr algn="l" indent="0" marL="0">
              <a:lnSpc>
                <a:spcPct val="83000"/>
              </a:lnSpc>
              <a:buNone/>
            </a:pPr>
            <a:r>
              <a:rPr lang="en-US" sz="4700" dirty="0">
                <a:solidFill>
                  <a:srgbClr val="000000"/>
                </a:solidFill>
                <a:latin typeface="Sora ExtraLight" pitchFamily="34" charset="0"/>
                <a:ea typeface="Sora ExtraLight" pitchFamily="34" charset="-122"/>
                <a:cs typeface="Sora ExtraLight" pitchFamily="34" charset="-120"/>
              </a:rPr>
              <a:t>Which observations should we inspect first, and why?</a:t>
            </a:r>
            <a:endParaRPr lang="en-US" sz="4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189" y="493613"/>
            <a:ext cx="7365816" cy="186630"/>
          </a:xfrm>
          <a:prstGeom prst="rect">
            <a:avLst/>
          </a:prstGeom>
          <a:noFill/>
          <a:ln/>
        </p:spPr>
        <p:txBody>
          <a:bodyPr wrap="none" lIns="0" tIns="0" rIns="0" bIns="0" rtlCol="0" anchor="t"/>
          <a:lstStyle/>
          <a:p>
            <a:pPr algn="l" indent="0" marL="0">
              <a:lnSpc>
                <a:spcPct val="117000"/>
              </a:lnSpc>
              <a:buNone/>
            </a:pPr>
            <a:r>
              <a:rPr lang="en-US" sz="1050" spc="63" kern="100" dirty="0">
                <a:solidFill>
                  <a:srgbClr val="2E6E9E"/>
                </a:solidFill>
                <a:latin typeface="Sora ExtraLight" pitchFamily="34" charset="0"/>
                <a:ea typeface="Sora ExtraLight" pitchFamily="34" charset="-122"/>
                <a:cs typeface="Sora ExtraLight" pitchFamily="34" charset="-120"/>
              </a:rPr>
              <a:t>FROM PREDICTION TO ACTION</a:t>
            </a:r>
            <a:endParaRPr lang="en-US" sz="1050" dirty="0"/>
          </a:p>
        </p:txBody>
      </p:sp>
      <p:sp>
        <p:nvSpPr>
          <p:cNvPr id="3" name="Text 1"/>
          <p:cNvSpPr/>
          <p:nvPr/>
        </p:nvSpPr>
        <p:spPr>
          <a:xfrm>
            <a:off x="457189" y="753269"/>
            <a:ext cx="6908627" cy="1340941"/>
          </a:xfrm>
          <a:prstGeom prst="rect">
            <a:avLst/>
          </a:prstGeom>
          <a:noFill/>
          <a:ln/>
        </p:spPr>
        <p:txBody>
          <a:bodyPr wrap="square" lIns="0" tIns="0" rIns="0" bIns="0" rtlCol="0" anchor="t">
            <a:normAutofit/>
          </a:bodyPr>
          <a:lstStyle/>
          <a:p>
            <a:pPr algn="l" indent="0" marL="0">
              <a:lnSpc>
                <a:spcPct val="92000"/>
              </a:lnSpc>
              <a:buNone/>
            </a:pPr>
            <a:r>
              <a:rPr lang="en-US" sz="3200" dirty="0">
                <a:solidFill>
                  <a:srgbClr val="0A3A5C"/>
                </a:solidFill>
                <a:latin typeface="Sora Light" pitchFamily="34" charset="0"/>
                <a:ea typeface="Sora Light" pitchFamily="34" charset="-122"/>
                <a:cs typeface="Sora Light" pitchFamily="34" charset="-120"/>
              </a:rPr>
              <a:t>Risk becomes useful when an engineer can act on the explanation</a:t>
            </a:r>
            <a:endParaRPr lang="en-US" sz="3200" dirty="0"/>
          </a:p>
        </p:txBody>
      </p:sp>
      <p:pic>
        <p:nvPicPr>
          <p:cNvPr id="4" name="Image 0" descr="preencoded.png">    </p:cNvPr>
          <p:cNvPicPr>
            <a:picLocks noChangeAspect="1"/>
          </p:cNvPicPr>
          <p:nvPr/>
        </p:nvPicPr>
        <p:blipFill>
          <a:blip r:embed="rId1"/>
          <a:stretch>
            <a:fillRect/>
          </a:stretch>
        </p:blipFill>
        <p:spPr>
          <a:xfrm>
            <a:off x="457189" y="2252960"/>
            <a:ext cx="6908627" cy="2708473"/>
          </a:xfrm>
          <a:prstGeom prst="rect">
            <a:avLst/>
          </a:prstGeom>
        </p:spPr>
      </p:pic>
      <p:pic>
        <p:nvPicPr>
          <p:cNvPr id="5" name="Image 1" descr="preencoded.png">    </p:cNvPr>
          <p:cNvPicPr>
            <a:picLocks noChangeAspect="1"/>
          </p:cNvPicPr>
          <p:nvPr/>
        </p:nvPicPr>
        <p:blipFill>
          <a:blip r:embed="rId2"/>
          <a:stretch>
            <a:fillRect/>
          </a:stretch>
        </p:blipFill>
        <p:spPr>
          <a:xfrm>
            <a:off x="4664539" y="3441268"/>
            <a:ext cx="400699" cy="400709"/>
          </a:xfrm>
          <a:prstGeom prst="rect">
            <a:avLst/>
          </a:prstGeom>
        </p:spPr>
      </p:pic>
      <p:pic>
        <p:nvPicPr>
          <p:cNvPr id="6" name="Image 2" descr="preencoded.png">    </p:cNvPr>
          <p:cNvPicPr>
            <a:picLocks noChangeAspect="1"/>
          </p:cNvPicPr>
          <p:nvPr/>
        </p:nvPicPr>
        <p:blipFill>
          <a:blip r:embed="rId3"/>
          <a:stretch>
            <a:fillRect/>
          </a:stretch>
        </p:blipFill>
        <p:spPr>
          <a:xfrm>
            <a:off x="2792310" y="3441268"/>
            <a:ext cx="400698" cy="400709"/>
          </a:xfrm>
          <a:prstGeom prst="rect">
            <a:avLst/>
          </a:prstGeom>
        </p:spPr>
      </p:pic>
      <p:sp>
        <p:nvSpPr>
          <p:cNvPr id="7" name="Text 2"/>
          <p:cNvSpPr/>
          <p:nvPr/>
        </p:nvSpPr>
        <p:spPr>
          <a:xfrm>
            <a:off x="620923" y="2384227"/>
            <a:ext cx="1261539" cy="516646"/>
          </a:xfrm>
          <a:prstGeom prst="rect">
            <a:avLst/>
          </a:prstGeom>
          <a:noFill/>
          <a:ln/>
        </p:spPr>
        <p:txBody>
          <a:bodyPr wrap="square" lIns="0" tIns="0" rIns="0" bIns="0" rtlCol="0" anchor="t">
            <a:normAutofit/>
          </a:bodyPr>
          <a:lstStyle/>
          <a:p>
            <a:pPr algn="r" indent="0" marL="0">
              <a:lnSpc>
                <a:spcPct val="92000"/>
              </a:lnSpc>
              <a:buNone/>
            </a:pPr>
            <a:r>
              <a:rPr lang="en-US" sz="1250" dirty="0">
                <a:solidFill>
                  <a:srgbClr val="000000"/>
                </a:solidFill>
                <a:latin typeface="Sora Light" pitchFamily="34" charset="0"/>
                <a:ea typeface="Sora Light" pitchFamily="34" charset="-122"/>
                <a:cs typeface="Sora Light" pitchFamily="34" charset="-120"/>
              </a:rPr>
              <a:t>Production Generates Observation</a:t>
            </a:r>
            <a:endParaRPr lang="en-US" sz="1250" dirty="0"/>
          </a:p>
        </p:txBody>
      </p:sp>
      <p:sp>
        <p:nvSpPr>
          <p:cNvPr id="8" name="Text 3"/>
          <p:cNvSpPr/>
          <p:nvPr/>
        </p:nvSpPr>
        <p:spPr>
          <a:xfrm>
            <a:off x="5933634" y="2384227"/>
            <a:ext cx="1261538" cy="516646"/>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000000"/>
                </a:solidFill>
                <a:latin typeface="Sora Light" pitchFamily="34" charset="0"/>
                <a:ea typeface="Sora Light" pitchFamily="34" charset="-122"/>
                <a:cs typeface="Sora Light" pitchFamily="34" charset="-120"/>
              </a:rPr>
              <a:t>Model Estimates &amp; Explains Risk</a:t>
            </a:r>
            <a:endParaRPr lang="en-US" sz="1250" dirty="0"/>
          </a:p>
        </p:txBody>
      </p:sp>
      <p:sp>
        <p:nvSpPr>
          <p:cNvPr id="9" name="Text 4"/>
          <p:cNvSpPr/>
          <p:nvPr/>
        </p:nvSpPr>
        <p:spPr>
          <a:xfrm>
            <a:off x="5933634" y="4313285"/>
            <a:ext cx="1261538" cy="516646"/>
          </a:xfrm>
          <a:prstGeom prst="rect">
            <a:avLst/>
          </a:prstGeom>
          <a:noFill/>
          <a:ln/>
        </p:spPr>
        <p:txBody>
          <a:bodyPr wrap="square" lIns="0" tIns="0" rIns="0" bIns="0" rtlCol="0" anchor="t">
            <a:normAutofit/>
          </a:bodyPr>
          <a:lstStyle/>
          <a:p>
            <a:pPr algn="l" indent="0" marL="0">
              <a:lnSpc>
                <a:spcPct val="92000"/>
              </a:lnSpc>
              <a:buNone/>
            </a:pPr>
            <a:r>
              <a:rPr lang="en-US" sz="1250" dirty="0">
                <a:solidFill>
                  <a:srgbClr val="000000"/>
                </a:solidFill>
                <a:latin typeface="Sora Light" pitchFamily="34" charset="0"/>
                <a:ea typeface="Sora Light" pitchFamily="34" charset="-122"/>
                <a:cs typeface="Sora Light" pitchFamily="34" charset="-120"/>
              </a:rPr>
              <a:t>Prioritize by Inspection Capacity</a:t>
            </a:r>
            <a:endParaRPr lang="en-US" sz="1250" dirty="0"/>
          </a:p>
        </p:txBody>
      </p:sp>
      <p:sp>
        <p:nvSpPr>
          <p:cNvPr id="10" name="Text 5"/>
          <p:cNvSpPr/>
          <p:nvPr/>
        </p:nvSpPr>
        <p:spPr>
          <a:xfrm>
            <a:off x="620923" y="4313285"/>
            <a:ext cx="1261539" cy="516646"/>
          </a:xfrm>
          <a:prstGeom prst="rect">
            <a:avLst/>
          </a:prstGeom>
          <a:noFill/>
          <a:ln/>
        </p:spPr>
        <p:txBody>
          <a:bodyPr wrap="square" lIns="0" tIns="0" rIns="0" bIns="0" rtlCol="0" anchor="t">
            <a:normAutofit/>
          </a:bodyPr>
          <a:lstStyle/>
          <a:p>
            <a:pPr algn="r" indent="0" marL="0">
              <a:lnSpc>
                <a:spcPct val="92000"/>
              </a:lnSpc>
              <a:buNone/>
            </a:pPr>
            <a:r>
              <a:rPr lang="en-US" sz="1250" dirty="0">
                <a:solidFill>
                  <a:srgbClr val="000000"/>
                </a:solidFill>
                <a:latin typeface="Sora Light" pitchFamily="34" charset="0"/>
                <a:ea typeface="Sora Light" pitchFamily="34" charset="-122"/>
                <a:cs typeface="Sora Light" pitchFamily="34" charset="-120"/>
              </a:rPr>
              <a:t>Engineer Investigates &amp; Acts</a:t>
            </a:r>
            <a:endParaRPr lang="en-US" sz="1250" dirty="0"/>
          </a:p>
        </p:txBody>
      </p:sp>
      <p:sp>
        <p:nvSpPr>
          <p:cNvPr id="11" name="Text 6"/>
          <p:cNvSpPr/>
          <p:nvPr/>
        </p:nvSpPr>
        <p:spPr>
          <a:xfrm>
            <a:off x="457189" y="5120184"/>
            <a:ext cx="6908627" cy="1244203"/>
          </a:xfrm>
          <a:prstGeom prst="rect">
            <a:avLst/>
          </a:prstGeom>
          <a:noFill/>
          <a:ln/>
        </p:spPr>
        <p:txBody>
          <a:bodyPr wrap="square" lIns="0" tIns="0" rIns="0" bIns="0" rtlCol="0" anchor="t">
            <a:normAutofit/>
          </a:bodyPr>
          <a:lstStyle/>
          <a:p>
            <a:pPr algn="l" indent="0" marL="0">
              <a:lnSpc>
                <a:spcPct val="117000"/>
              </a:lnSpc>
              <a:buNone/>
            </a:pPr>
            <a:r>
              <a:rPr lang="en-US" sz="1400" b="1" dirty="0">
                <a:solidFill>
                  <a:srgbClr val="000000"/>
                </a:solidFill>
                <a:latin typeface="Sora Bold" pitchFamily="34" charset="0"/>
                <a:ea typeface="Sora Bold" pitchFamily="34" charset="-122"/>
                <a:cs typeface="Sora Bold" pitchFamily="34" charset="-120"/>
              </a:rPr>
              <a:t>Production conditions:</a:t>
            </a:r>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 Observe air temperature, process temperature, speed, torque, tool wear, and product type. </a:t>
            </a:r>
            <a:pPr algn="l" indent="0" marL="0">
              <a:lnSpc>
                <a:spcPct val="117000"/>
              </a:lnSpc>
              <a:buNone/>
            </a:pPr>
            <a:r>
              <a:rPr lang="en-US" sz="1400" b="1" dirty="0">
                <a:solidFill>
                  <a:srgbClr val="000000"/>
                </a:solidFill>
                <a:latin typeface="Sora Bold" pitchFamily="34" charset="0"/>
                <a:ea typeface="Sora Bold" pitchFamily="34" charset="-122"/>
                <a:cs typeface="Sora Bold" pitchFamily="34" charset="-120"/>
              </a:rPr>
              <a:t>Risk explanation:</a:t>
            </a:r>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 Review the risk score and the factors highlighted by SHAP and feature importance. </a:t>
            </a:r>
            <a:pPr algn="l" indent="0" marL="0">
              <a:lnSpc>
                <a:spcPct val="117000"/>
              </a:lnSpc>
              <a:buNone/>
            </a:pPr>
            <a:r>
              <a:rPr lang="en-US" sz="1400" b="1" dirty="0">
                <a:solidFill>
                  <a:srgbClr val="000000"/>
                </a:solidFill>
                <a:latin typeface="Sora Bold" pitchFamily="34" charset="0"/>
                <a:ea typeface="Sora Bold" pitchFamily="34" charset="-122"/>
                <a:cs typeface="Sora Bold" pitchFamily="34" charset="-120"/>
              </a:rPr>
              <a:t>Focused quality action:</a:t>
            </a:r>
            <a:pPr algn="l" indent="0" marL="0">
              <a:lnSpc>
                <a:spcPct val="117000"/>
              </a:lnSpc>
              <a:buNone/>
            </a:pPr>
            <a:r>
              <a:rPr lang="en-US" sz="1400" dirty="0">
                <a:solidFill>
                  <a:srgbClr val="000000"/>
                </a:solidFill>
                <a:latin typeface="Sora ExtraLight" pitchFamily="34" charset="0"/>
                <a:ea typeface="Sora ExtraLight" pitchFamily="34" charset="-122"/>
                <a:cs typeface="Sora ExtraLight" pitchFamily="34" charset="-120"/>
              </a:rPr>
              <a:t> Investigate prioritized observations within capacity K and guide the next quality decision.</a:t>
            </a:r>
            <a:endParaRPr lang="en-US" sz="1400" dirty="0"/>
          </a:p>
        </p:txBody>
      </p:sp>
      <p:pic>
        <p:nvPicPr>
          <p:cNvPr id="12" name="Image 3" descr="preencoded.png">    </p:cNvPr>
          <p:cNvPicPr>
            <a:picLocks noChangeAspect="1"/>
          </p:cNvPicPr>
          <p:nvPr/>
        </p:nvPicPr>
        <p:blipFill>
          <a:blip r:embed="rId4"/>
          <a:stretch>
            <a:fillRect/>
          </a:stretch>
        </p:blipFill>
        <p:spPr>
          <a:xfrm>
            <a:off x="8280193" y="0"/>
            <a:ext cx="3911502"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2026-10-04T19:36:01Z</dcterms:created>
  <dcterms:modified xsi:type="dcterms:W3CDTF">2026-10-04T19:36:01Z</dcterms:modified>
</cp:coreProperties>
</file>